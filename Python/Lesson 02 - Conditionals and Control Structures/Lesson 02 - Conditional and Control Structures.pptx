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1"/>
  </p:notesMasterIdLst>
  <p:sldIdLst>
    <p:sldId id="256" r:id="rId2"/>
    <p:sldId id="283" r:id="rId3"/>
    <p:sldId id="281" r:id="rId4"/>
    <p:sldId id="258" r:id="rId5"/>
    <p:sldId id="259" r:id="rId6"/>
    <p:sldId id="260" r:id="rId7"/>
    <p:sldId id="261" r:id="rId8"/>
    <p:sldId id="262" r:id="rId9"/>
    <p:sldId id="264" r:id="rId10"/>
    <p:sldId id="284" r:id="rId11"/>
    <p:sldId id="285" r:id="rId12"/>
    <p:sldId id="265" r:id="rId13"/>
    <p:sldId id="266" r:id="rId14"/>
    <p:sldId id="267" r:id="rId15"/>
    <p:sldId id="268" r:id="rId16"/>
    <p:sldId id="286" r:id="rId17"/>
    <p:sldId id="282" r:id="rId18"/>
    <p:sldId id="269" r:id="rId19"/>
    <p:sldId id="270" r:id="rId20"/>
    <p:sldId id="287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63A8-BC75-44AB-A561-BE0A82F3F6A3}">
  <a:tblStyle styleId="{5B9063A8-BC75-44AB-A561-BE0A82F3F6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38" autoAdjust="0"/>
  </p:normalViewPr>
  <p:slideViewPr>
    <p:cSldViewPr snapToGrid="0">
      <p:cViewPr varScale="1">
        <p:scale>
          <a:sx n="153" d="100"/>
          <a:sy n="153" d="100"/>
        </p:scale>
        <p:origin x="8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Remember: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Defining a function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If-elif-else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Comparison operators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Early exits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221F2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1" name="Google Shape;31;p3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34" name="Google Shape;34;p3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4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668" y="78731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7" name="Google Shape;57;p4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4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4272796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4"/>
          <p:cNvSpPr txBox="1"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subTitle" idx="14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411480" y="1200149"/>
            <a:ext cx="5096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dt" idx="10"/>
          </p:nvPr>
        </p:nvSpPr>
        <p:spPr>
          <a:xfrm>
            <a:off x="411480" y="4972050"/>
            <a:ext cx="617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33828" y="4972050"/>
            <a:ext cx="29940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3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4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">
  <p:cSld name="4 Ico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411480" y="1200150"/>
            <a:ext cx="418338" cy="416624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body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7" name="Google Shape;117;p10"/>
          <p:cNvSpPr>
            <a:spLocks noGrp="1"/>
          </p:cNvSpPr>
          <p:nvPr>
            <p:ph type="pic" idx="3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body" idx="4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9" name="Google Shape;119;p10"/>
          <p:cNvSpPr>
            <a:spLocks noGrp="1"/>
          </p:cNvSpPr>
          <p:nvPr>
            <p:ph type="pic" idx="5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>
            <a:spLocks noGrp="1"/>
          </p:cNvSpPr>
          <p:nvPr>
            <p:ph type="body" idx="6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1" name="Google Shape;121;p10"/>
          <p:cNvSpPr>
            <a:spLocks noGrp="1"/>
          </p:cNvSpPr>
          <p:nvPr>
            <p:ph type="pic" idx="7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>
            <a:spLocks noGrp="1"/>
          </p:cNvSpPr>
          <p:nvPr>
            <p:ph type="body" idx="8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Numbers">
  <p:cSld name="4 Numbers">
    <p:bg>
      <p:bgPr>
        <a:solidFill>
          <a:srgbClr val="221F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" name="Google Shape;128;p11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0" name="Google Shape;130;p11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3" name="Google Shape;133;p11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6" name="Google Shape;136;p11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11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umbers - White">
  <p:cSld name="4 Numbers - Whit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p12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12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49" name="Google Shape;149;p12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2" name="Google Shape;152;p12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Google Shape;153;p12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5" name="Google Shape;155;p12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2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 Numbers">
  <p:cSld name="8 Numbers">
    <p:bg>
      <p:bgPr>
        <a:solidFill>
          <a:srgbClr val="221F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3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3" name="Google Shape;163;p13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8" name="Google Shape;168;p13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3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5" name="Google Shape;175;p13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0" name="Google Shape;180;p13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13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4" name="Google Shape;184;p13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Numbers - White">
  <p:cSld name="8 Numbers -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3" name="Google Shape;193;p14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14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7" name="Google Shape;197;p14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p14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2" name="Google Shape;202;p14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3" name="Google Shape;203;p14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6" name="Google Shape;206;p14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8" name="Google Shape;208;p14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9" name="Google Shape;209;p14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1" name="Google Shape;211;p14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14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4" name="Google Shape;214;p14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5" name="Google Shape;215;p14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1">
  <p:cSld name="Content and Image 0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2">
  <p:cSld name="Content and Image 0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>
            <a:spLocks noGrp="1"/>
          </p:cNvSpPr>
          <p:nvPr>
            <p:ph type="pic" idx="2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411480" y="284607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Images">
  <p:cSld name="Content and 2 Image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8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3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2" name="Google Shape;242;p18"/>
          <p:cNvSpPr>
            <a:spLocks noGrp="1"/>
          </p:cNvSpPr>
          <p:nvPr>
            <p:ph type="pic" idx="4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3" name="Google Shape;243;p18"/>
          <p:cNvSpPr txBox="1">
            <a:spLocks noGrp="1"/>
          </p:cNvSpPr>
          <p:nvPr>
            <p:ph type="body" idx="5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6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3 Images">
  <p:cSld name="Content and 3 Images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3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2" name="Google Shape;252;p19"/>
          <p:cNvSpPr>
            <a:spLocks noGrp="1"/>
          </p:cNvSpPr>
          <p:nvPr>
            <p:ph type="pic" idx="4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3" name="Google Shape;253;p19"/>
          <p:cNvSpPr txBox="1">
            <a:spLocks noGrp="1"/>
          </p:cNvSpPr>
          <p:nvPr>
            <p:ph type="body" idx="5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6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5" name="Google Shape;255;p19"/>
          <p:cNvSpPr>
            <a:spLocks noGrp="1"/>
          </p:cNvSpPr>
          <p:nvPr>
            <p:ph type="pic" idx="7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6" name="Google Shape;256;p19"/>
          <p:cNvSpPr txBox="1">
            <a:spLocks noGrp="1"/>
          </p:cNvSpPr>
          <p:nvPr>
            <p:ph type="body" idx="8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9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4 Images">
  <p:cSld name="Content and 4 Image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>
            <a:spLocks noGrp="1"/>
          </p:cNvSpPr>
          <p:nvPr>
            <p:ph type="pic" idx="2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3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5" name="Google Shape;265;p20"/>
          <p:cNvSpPr>
            <a:spLocks noGrp="1"/>
          </p:cNvSpPr>
          <p:nvPr>
            <p:ph type="pic" idx="4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6" name="Google Shape;266;p20"/>
          <p:cNvSpPr txBox="1">
            <a:spLocks noGrp="1"/>
          </p:cNvSpPr>
          <p:nvPr>
            <p:ph type="body" idx="5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6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8" name="Google Shape;268;p20"/>
          <p:cNvSpPr>
            <a:spLocks noGrp="1"/>
          </p:cNvSpPr>
          <p:nvPr>
            <p:ph type="pic" idx="7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9" name="Google Shape;269;p20"/>
          <p:cNvSpPr txBox="1">
            <a:spLocks noGrp="1"/>
          </p:cNvSpPr>
          <p:nvPr>
            <p:ph type="body" idx="8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9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1" name="Google Shape;271;p20"/>
          <p:cNvSpPr>
            <a:spLocks noGrp="1"/>
          </p:cNvSpPr>
          <p:nvPr>
            <p:ph type="pic" idx="13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72" name="Google Shape;272;p20"/>
          <p:cNvSpPr txBox="1">
            <a:spLocks noGrp="1"/>
          </p:cNvSpPr>
          <p:nvPr>
            <p:ph type="body" idx="14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5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221F2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Image">
  <p:cSld name="Section Header - Image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  <a:ln>
            <a:noFill/>
          </a:ln>
        </p:spPr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1">
  <p:cSld name="Section Header - White 01"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2">
  <p:cSld name="Section Header - White 02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type="title"/>
          </p:nvPr>
        </p:nvSpPr>
        <p:spPr>
          <a:xfrm>
            <a:off x="411481" y="308610"/>
            <a:ext cx="40239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Half Image">
  <p:cSld name="Section Header - Half Image">
    <p:bg>
      <p:bgPr>
        <a:solidFill>
          <a:srgbClr val="221F2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5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07" name="Google Shape;307;p2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Half Image - White">
  <p:cSld name="Section Header - Half Image - White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14" name="Google Shape;314;p2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ack">
  <p:cSld name="Title Only - Black">
    <p:bg>
      <p:bgPr>
        <a:solidFill>
          <a:srgbClr val="221F2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Black">
  <p:cSld name="Blank - Black">
    <p:bg>
      <p:bgPr>
        <a:solidFill>
          <a:srgbClr val="221F2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35" name="Google Shape;3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221F20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CC0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>
  <p:cSld name="Logo">
    <p:bg>
      <p:bgPr>
        <a:solidFill>
          <a:srgbClr val="221F2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20265" y="1645920"/>
            <a:ext cx="4903470" cy="185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3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7">
            <a:alphaModFix/>
          </a:blip>
          <a:srcRect l="26274" t="67"/>
          <a:stretch/>
        </p:blipFill>
        <p:spPr>
          <a:xfrm>
            <a:off x="7821386" y="308611"/>
            <a:ext cx="911133" cy="35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9562" algn="l" rtl="0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" descr="A picture containing icon&#10;&#10;AI-generated content may be incorrect.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7444515" y="318065"/>
            <a:ext cx="376871" cy="3582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5" pos="1018">
          <p15:clr>
            <a:srgbClr val="A4A3A4"/>
          </p15:clr>
        </p15:guide>
        <p15:guide id="6" pos="1248">
          <p15:clr>
            <a:srgbClr val="A4A3A4"/>
          </p15:clr>
        </p15:guide>
        <p15:guide id="7" pos="2148">
          <p15:clr>
            <a:srgbClr val="A4A3A4"/>
          </p15:clr>
        </p15:guide>
        <p15:guide id="8" pos="3052">
          <p15:clr>
            <a:srgbClr val="A4A3A4"/>
          </p15:clr>
        </p15:guide>
        <p15:guide id="9" pos="3954">
          <p15:clr>
            <a:srgbClr val="A4A3A4"/>
          </p15:clr>
        </p15:guide>
        <p15:guide id="10" pos="3724">
          <p15:clr>
            <a:srgbClr val="A4A3A4"/>
          </p15:clr>
        </p15:guide>
        <p15:guide id="11" pos="4858">
          <p15:clr>
            <a:srgbClr val="A4A3A4"/>
          </p15:clr>
        </p15:guide>
        <p15:guide id="12" pos="5784">
          <p15:clr>
            <a:srgbClr val="A4A3A4"/>
          </p15:clr>
        </p15:guide>
        <p15:guide id="13" pos="6660">
          <p15:clr>
            <a:srgbClr val="A4A3A4"/>
          </p15:clr>
        </p15:guide>
        <p15:guide id="14" pos="1920">
          <p15:clr>
            <a:srgbClr val="A4A3A4"/>
          </p15:clr>
        </p15:guide>
        <p15:guide id="15" pos="2822">
          <p15:clr>
            <a:srgbClr val="A4A3A4"/>
          </p15:clr>
        </p15:guide>
        <p15:guide id="16" pos="4626">
          <p15:clr>
            <a:srgbClr val="A4A3A4"/>
          </p15:clr>
        </p15:guide>
        <p15:guide id="17" pos="5530">
          <p15:clr>
            <a:srgbClr val="A4A3A4"/>
          </p15:clr>
        </p15:guide>
        <p15:guide id="18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CONDITIONAL STATEMENTS AND LOOPS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770C-48A1-120B-65AF-040A22F9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C43E-49B2-D627-1DA6-CF46FBE1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What is a Boolean?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FB9D0-1E02-674B-D500-C87624F37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9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FF55-7A93-B809-B415-86211FFC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Diagrams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8F578-8096-8B90-078A-B8A4C5B3A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8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CONDITIONAL STATEMENTS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79F32-1E61-7397-F13C-41965F970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Conditions are expressions that evaluate to a Boolean value</a:t>
            </a:r>
          </a:p>
          <a:p>
            <a:r>
              <a:rPr lang="en-US" dirty="0"/>
              <a:t>They often involve comparison operators (&lt;, &gt;, ==, !=, &lt;=, &gt;=) and logical operators (and, or, not)</a:t>
            </a:r>
          </a:p>
          <a:p>
            <a:endParaRPr lang="en-US" dirty="0"/>
          </a:p>
          <a:p>
            <a:r>
              <a:rPr lang="en-US" dirty="0"/>
              <a:t>Python relies on indentation (whitespace at the beginning of a line) to define code blocks</a:t>
            </a:r>
          </a:p>
          <a:p>
            <a:endParaRPr lang="en-US" dirty="0"/>
          </a:p>
          <a:p>
            <a:r>
              <a:rPr lang="en-US" dirty="0"/>
              <a:t>Incorrect indentation will lead to errors.</a:t>
            </a:r>
          </a:p>
          <a:p>
            <a:endParaRPr lang="en-US" dirty="0"/>
          </a:p>
          <a:p>
            <a:r>
              <a:rPr lang="en-US" dirty="0"/>
              <a:t>You can create Nested Conditional Statements to control the flow of 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"IF" STATEMENT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Executes a block of code only if a given condition evaluates to True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age = 20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age &gt;= 18: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print(“You are eligible to vote.”)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“ELSE” STATEMENT</a:t>
            </a:r>
          </a:p>
        </p:txBody>
      </p:sp>
      <p:sp>
        <p:nvSpPr>
          <p:cNvPr id="400" name="Google Shape;400;p43"/>
          <p:cNvSpPr txBox="1">
            <a:spLocks noGrp="1"/>
          </p:cNvSpPr>
          <p:nvPr>
            <p:ph type="body" idx="1"/>
          </p:nvPr>
        </p:nvSpPr>
        <p:spPr>
          <a:xfrm>
            <a:off x="411480" y="864524"/>
            <a:ext cx="5096352" cy="376462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“Else” is used in conjunction with “if” </a:t>
            </a:r>
          </a:p>
          <a:p>
            <a:pPr lvl="0"/>
            <a:r>
              <a:rPr lang="en-US" dirty="0"/>
              <a:t>Provides an alternate block of code to execute if the “if” condition evaluates to false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temperature = 78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temperature &gt; 85: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hot out today!”)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not too hot.”)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“ELIF” STATEMENT</a:t>
            </a:r>
          </a:p>
        </p:txBody>
      </p:sp>
      <p:sp>
        <p:nvSpPr>
          <p:cNvPr id="406" name="Google Shape;406;p44"/>
          <p:cNvSpPr txBox="1">
            <a:spLocks noGrp="1"/>
          </p:cNvSpPr>
          <p:nvPr>
            <p:ph type="body" idx="1"/>
          </p:nvPr>
        </p:nvSpPr>
        <p:spPr>
          <a:xfrm>
            <a:off x="411480" y="931025"/>
            <a:ext cx="5096352" cy="3903864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/>
            <a:r>
              <a:rPr lang="en-US" dirty="0"/>
              <a:t>“</a:t>
            </a:r>
            <a:r>
              <a:rPr lang="en-US" dirty="0" err="1"/>
              <a:t>elif</a:t>
            </a:r>
            <a:r>
              <a:rPr lang="en-US" dirty="0"/>
              <a:t>” is short for else-if</a:t>
            </a:r>
          </a:p>
          <a:p>
            <a:pPr lvl="0"/>
            <a:r>
              <a:rPr lang="en-US" dirty="0"/>
              <a:t>It allows for checking multiple conditions sequentially</a:t>
            </a:r>
          </a:p>
          <a:p>
            <a:pPr lvl="0"/>
            <a:r>
              <a:rPr lang="en-US" dirty="0"/>
              <a:t>If the “if” condition evaluates to false, the “</a:t>
            </a:r>
            <a:r>
              <a:rPr lang="en-US" dirty="0" err="1"/>
              <a:t>elif</a:t>
            </a:r>
            <a:r>
              <a:rPr lang="en-US" dirty="0"/>
              <a:t>” statements are evaluated in order until one evaluates to True</a:t>
            </a:r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score = 89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score &gt;= 90: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A”)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80: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B”)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70: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C”)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60: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D”)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F”)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NESTED CONDITIONAL STATEMENTS	</a:t>
            </a:r>
          </a:p>
        </p:txBody>
      </p:sp>
      <p:sp>
        <p:nvSpPr>
          <p:cNvPr id="412" name="Google Shape;412;p45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7248699" cy="3675266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 dirty="0"/>
              <a:t>You can place “if” or “if...else” statements inside other “if” or “else” blocks to create more complex decision structures.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0"/>
            <a:endParaRPr lang="en-US" dirty="0"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weather = "rainy“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temperature = 45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weather == "rainy":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if temperature &lt; 50: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   print("It's cold and rainy. Wear a jacket and bring an umbrella.")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else: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   print("It's rainy but warm. Just bring an umbrella.")</a:t>
            </a:r>
          </a:p>
          <a:p>
            <a:pPr lvl="1">
              <a:buSzPct val="100000"/>
              <a:buFont typeface="+mj-lt"/>
              <a:buAutoNum type="arabicPeriod"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print("No rain today. Enjoy the weather!")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Code Examples</a:t>
            </a:r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EXERCISE - CONDITIONAL STATEMENTS</a:t>
            </a:r>
          </a:p>
        </p:txBody>
      </p:sp>
      <p:sp>
        <p:nvSpPr>
          <p:cNvPr id="424" name="Google Shape;424;p47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5 minutes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Write a function that checks a number and returns “positive,” “zero,” or “negative”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28243-537E-0FEA-5988-8E94E249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94B0-8E40-9276-D973-7F894F9E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7F26D-6E9D-7659-90DF-D03F914C4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46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F115-6D7B-D748-EB43-E78AD204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a new datatype!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104A8-DCE8-EE02-90BD-1DAB5DEFF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humble list</a:t>
            </a:r>
          </a:p>
          <a:p>
            <a:pPr lvl="0"/>
            <a:r>
              <a:rPr lang="en-US" dirty="0"/>
              <a:t>Example:</a:t>
            </a:r>
            <a:endParaRPr lang="en-US" dirty="0"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= ['hello']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my_list.append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('goodbye')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my_list.append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(5)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my_list.append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(True)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marL="571500" lvl="1" indent="0"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['hello', 'goodbye', 5, True]</a:t>
            </a:r>
          </a:p>
          <a:p>
            <a:pPr lvl="1">
              <a:buSzPct val="100000"/>
              <a:buFont typeface="+mj-lt"/>
              <a:buAutoNum type="arabicPeriod" startAt="6"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len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my_list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)</a:t>
            </a:r>
          </a:p>
          <a:p>
            <a:pPr marL="571500" lvl="1" indent="0"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4</a:t>
            </a:r>
          </a:p>
          <a:p>
            <a:pPr marL="571500" lvl="1" indent="0">
              <a:buSzPct val="10000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marL="571500" lvl="1" indent="0">
              <a:buSzPct val="100000"/>
              <a:buNone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6FC86-472D-8A30-D086-458C6948E60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44CFA-1A3F-CDA3-343E-E3ED58147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822" y="1170014"/>
            <a:ext cx="2970256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5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LOOPS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B59AA5-0605-988D-3589-BF825B86F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Fundamental control flow structures used to execute a block of code repeatedly</a:t>
            </a:r>
          </a:p>
          <a:p>
            <a:r>
              <a:rPr lang="en-US" dirty="0"/>
              <a:t>Two primary types of loops are “for” and “while” loops, which have distinct purposes</a:t>
            </a:r>
          </a:p>
          <a:p>
            <a:r>
              <a:rPr lang="en-US" dirty="0"/>
              <a:t>You can nest loops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RANGE() FUNCTION</a:t>
            </a:r>
          </a:p>
          <a:p>
            <a:pPr lvl="0"/>
            <a:endParaRPr lang="en-US"/>
          </a:p>
        </p:txBody>
      </p:sp>
      <p:sp>
        <p:nvSpPr>
          <p:cNvPr id="436" name="Google Shape;436;p49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>
              <a:buSzPct val="100000"/>
            </a:pPr>
            <a:r>
              <a:rPr lang="en-US" dirty="0"/>
              <a:t>A built-in Python function</a:t>
            </a:r>
          </a:p>
          <a:p>
            <a:pPr>
              <a:buSzPct val="100000"/>
            </a:pPr>
            <a:r>
              <a:rPr lang="en-US" dirty="0"/>
              <a:t>Output is a “range object,” which is an immutable sequence type and memory efficient compared to a list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range(stop)</a:t>
            </a:r>
          </a:p>
          <a:p>
            <a:pPr lvl="1">
              <a:buSzPct val="100000"/>
            </a:pPr>
            <a:r>
              <a:rPr lang="en-US" dirty="0"/>
              <a:t>Generates a sequence of numbers starting from 0 (default) up to, but not including, the stop value</a:t>
            </a:r>
          </a:p>
          <a:p>
            <a:pPr lvl="1">
              <a:buSzPct val="100000"/>
            </a:pPr>
            <a:r>
              <a:rPr lang="en-US" dirty="0"/>
              <a:t>The numbers increment by 1 (default)</a:t>
            </a:r>
          </a:p>
          <a:p>
            <a:pPr lvl="1">
              <a:buSzPct val="100000"/>
            </a:pPr>
            <a:r>
              <a:rPr lang="en-US" dirty="0"/>
              <a:t>Example: range(5) generates 0, 1, 2, 3, 4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range(start, stop)</a:t>
            </a:r>
          </a:p>
          <a:p>
            <a:pPr lvl="1">
              <a:buSzPct val="100000"/>
            </a:pPr>
            <a:r>
              <a:rPr lang="en-US" dirty="0"/>
              <a:t>Generates a sequence of numbers starting from the start value (inclusive) up to, but not including, the stop value</a:t>
            </a:r>
          </a:p>
          <a:p>
            <a:pPr lvl="1">
              <a:buSzPct val="100000"/>
            </a:pPr>
            <a:r>
              <a:rPr lang="en-US" dirty="0"/>
              <a:t>The numbers increment by 1 (default)</a:t>
            </a:r>
          </a:p>
          <a:p>
            <a:pPr lvl="1">
              <a:buSzPct val="100000"/>
            </a:pPr>
            <a:r>
              <a:rPr lang="en-US" dirty="0"/>
              <a:t>Example: range(2, 7) generates 2, 3, 4, 5, 6</a:t>
            </a:r>
          </a:p>
          <a:p>
            <a:pPr>
              <a:buSzPct val="100000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range(start, stop, step)</a:t>
            </a:r>
          </a:p>
          <a:p>
            <a:pPr lvl="1">
              <a:buSzPct val="100000"/>
            </a:pPr>
            <a:r>
              <a:rPr lang="en-US" dirty="0"/>
              <a:t>Generates a sequence of numbers starting from the start value (inclusive) up to, but not including, the stop value</a:t>
            </a:r>
          </a:p>
          <a:p>
            <a:pPr lvl="1">
              <a:buSzPct val="100000"/>
            </a:pPr>
            <a:r>
              <a:rPr lang="en-US" dirty="0"/>
              <a:t>The numbers increment or decrement by the step value (integer!)</a:t>
            </a:r>
          </a:p>
          <a:p>
            <a:pPr lvl="1">
              <a:buSzPct val="100000"/>
            </a:pPr>
            <a:r>
              <a:rPr lang="en-US" dirty="0"/>
              <a:t>If step is positive, it increments. If step is negative, it decrements (for counting backwards).</a:t>
            </a:r>
          </a:p>
          <a:p>
            <a:pPr lvl="1">
              <a:buSzPct val="100000"/>
            </a:pPr>
            <a:r>
              <a:rPr lang="en-US" dirty="0"/>
              <a:t>step cannot be 0, as it would lead to an infinite loop and raise a </a:t>
            </a:r>
            <a:r>
              <a:rPr lang="en-US" dirty="0" err="1"/>
              <a:t>ValueError</a:t>
            </a:r>
            <a:endParaRPr lang="en-US" dirty="0"/>
          </a:p>
          <a:p>
            <a:pPr lvl="1">
              <a:buSzPct val="100000"/>
            </a:pPr>
            <a:r>
              <a:rPr lang="en-US" dirty="0"/>
              <a:t>Example: range(1, 10, 2) generates 1, 3, 5, 7, 9</a:t>
            </a:r>
          </a:p>
          <a:p>
            <a:pPr lvl="1">
              <a:buSzPct val="100000"/>
            </a:pPr>
            <a:r>
              <a:rPr lang="en-US" dirty="0"/>
              <a:t>Example: range(5, 0, -1) generates 5, 4, 3, 2,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“FOR” LOOP</a:t>
            </a:r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For loops iterate over a sequence, such as a list, tuple, string, or range, or other </a:t>
            </a:r>
            <a:r>
              <a:rPr lang="en-US" dirty="0" err="1"/>
              <a:t>iterable</a:t>
            </a:r>
            <a:r>
              <a:rPr lang="en-US" dirty="0"/>
              <a:t> objects</a:t>
            </a:r>
          </a:p>
          <a:p>
            <a:pPr lvl="0"/>
            <a:r>
              <a:rPr lang="en-US" dirty="0"/>
              <a:t>A block of code is executed once for each item in the sequence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lnSpc>
                <a:spcPct val="7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variable in sequence:</a:t>
            </a:r>
          </a:p>
          <a:p>
            <a:pPr lvl="1">
              <a:lnSpc>
                <a:spcPct val="7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fruits = ["apple", "banana", "cherry"]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fruit in fruits: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print(fruit)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“WHILE” LOOP</a:t>
            </a:r>
          </a:p>
        </p:txBody>
      </p:sp>
      <p:sp>
        <p:nvSpPr>
          <p:cNvPr id="448" name="Google Shape;448;p51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 dirty="0"/>
              <a:t>While loops execute a block of statements repeatedly as long as a given condition is True</a:t>
            </a:r>
          </a:p>
          <a:p>
            <a:pPr lvl="0"/>
            <a:r>
              <a:rPr lang="en-US" dirty="0"/>
              <a:t>The loop continues to execute until the condition becomes false</a:t>
            </a:r>
          </a:p>
          <a:p>
            <a:pPr lvl="0"/>
            <a:r>
              <a:rPr lang="en-US" dirty="0"/>
              <a:t>Forever loops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while condition: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block of code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count = 0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while count &lt; 5: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print(count)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count += 1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E11D-DB1D-30FC-45A7-682F3F15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4B51C-BE99-A72D-2F4F-B1C88170B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72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9A69B8-F9DB-9FB2-664B-08DF2646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Loops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39B41-6901-9C11-4B1A-8CEA53740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9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LOOP CONTROL STATEMENTS</a:t>
            </a:r>
          </a:p>
        </p:txBody>
      </p:sp>
      <p:sp>
        <p:nvSpPr>
          <p:cNvPr id="454" name="Google Shape;454;p52"/>
          <p:cNvSpPr txBox="1">
            <a:spLocks noGrp="1"/>
          </p:cNvSpPr>
          <p:nvPr>
            <p:ph type="body" idx="1"/>
          </p:nvPr>
        </p:nvSpPr>
        <p:spPr>
          <a:xfrm>
            <a:off x="411480" y="1200149"/>
            <a:ext cx="5096352" cy="34290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ym typeface="Consolas"/>
              </a:rPr>
              <a:t>break</a:t>
            </a:r>
          </a:p>
          <a:p>
            <a:pPr lvl="1"/>
            <a:r>
              <a:rPr lang="en-US" dirty="0"/>
              <a:t>terminates the current loop immediately, execution resumes at the statement following the loop</a:t>
            </a:r>
          </a:p>
          <a:p>
            <a:pPr lvl="0"/>
            <a:r>
              <a:rPr lang="en-US" dirty="0">
                <a:sym typeface="Consolas"/>
              </a:rPr>
              <a:t>continue</a:t>
            </a:r>
          </a:p>
          <a:p>
            <a:pPr lvl="1"/>
            <a:r>
              <a:rPr lang="en-US" dirty="0"/>
              <a:t>skips the rest of the current iteration of the loop and proceeds to the next iteration</a:t>
            </a:r>
          </a:p>
          <a:p>
            <a:pPr lvl="0"/>
            <a:r>
              <a:rPr lang="en-US" dirty="0">
                <a:sym typeface="Consolas"/>
              </a:rPr>
              <a:t>pass</a:t>
            </a:r>
          </a:p>
          <a:p>
            <a:pPr lvl="1"/>
            <a:r>
              <a:rPr lang="en-US" dirty="0"/>
              <a:t>null operation, used as a placeholder in loops or other code blocks where a statement is syntactically required but there is nothing to execute</a:t>
            </a:r>
          </a:p>
          <a:p>
            <a:pPr lvl="0"/>
            <a:endParaRPr lang="en-US" dirty="0"/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NESTED LOOPS</a:t>
            </a:r>
          </a:p>
        </p:txBody>
      </p:sp>
      <p:sp>
        <p:nvSpPr>
          <p:cNvPr id="460" name="Google Shape;460;p53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Python allows loops inside other loops, called nested loops</a:t>
            </a:r>
          </a:p>
          <a:p>
            <a:pPr lvl="0"/>
            <a:r>
              <a:rPr lang="en-US" dirty="0"/>
              <a:t>The inner loop executes completely for each iteration of the outer loop</a:t>
            </a:r>
          </a:p>
          <a:p>
            <a:pPr lvl="0"/>
            <a:r>
              <a:rPr lang="en-US" dirty="0"/>
              <a:t>Example: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in range(3):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for j in range(2):</a:t>
            </a:r>
          </a:p>
          <a:p>
            <a:pPr lvl="1">
              <a:lnSpc>
                <a:spcPct val="85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    print(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, j)</a:t>
            </a: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98B2-6D19-99AB-79E3-D6684DD9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3B53-DA45-32F6-ACB2-43C0AFE3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E92C-8600-68DA-A087-9403E035E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PYTHON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E1484-2479-D5C8-C114-A85D1147D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2" name="Google Shape;472;p55"/>
          <p:cNvSpPr txBox="1"/>
          <p:nvPr/>
        </p:nvSpPr>
        <p:spPr>
          <a:xfrm>
            <a:off x="616150" y="158055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are issues in a program that prevent it from running as expected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They help programmers find and fix mistakes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learn errors?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help you debug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Knowing common errors makes writing and fixing code faster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Good programs handle errors gracefully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EXERCISE - PYTHON ERRORS</a:t>
            </a:r>
          </a:p>
        </p:txBody>
      </p:sp>
      <p:sp>
        <p:nvSpPr>
          <p:cNvPr id="478" name="Google Shape;478;p5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5 minutes</a:t>
            </a:r>
          </a:p>
          <a:p>
            <a:pPr lvl="0"/>
            <a:endParaRPr lang="en-US"/>
          </a:p>
          <a:p>
            <a:pPr lvl="0"/>
            <a:r>
              <a:rPr lang="en-US"/>
              <a:t>Groups of 2-3</a:t>
            </a:r>
          </a:p>
          <a:p>
            <a:pPr lvl="0"/>
            <a:r>
              <a:rPr lang="en-US"/>
              <a:t>Research each python error and demonstrate an example case of when this error will be raised</a:t>
            </a:r>
          </a:p>
          <a:p>
            <a:pPr lvl="0"/>
            <a:r>
              <a:rPr lang="en-US"/>
              <a:t>SyntaxError</a:t>
            </a:r>
          </a:p>
          <a:p>
            <a:pPr lvl="0"/>
            <a:r>
              <a:rPr lang="en-US"/>
              <a:t>IndentationError</a:t>
            </a:r>
          </a:p>
          <a:p>
            <a:pPr lvl="0"/>
            <a:r>
              <a:rPr lang="en-US"/>
              <a:t>TypeError </a:t>
            </a:r>
          </a:p>
          <a:p>
            <a:pPr lvl="0"/>
            <a:r>
              <a:rPr lang="en-US"/>
              <a:t>ValueError</a:t>
            </a:r>
          </a:p>
          <a:p>
            <a:pPr lvl="0"/>
            <a:r>
              <a:rPr lang="en-US"/>
              <a:t>ZeroDivisionError</a:t>
            </a:r>
          </a:p>
          <a:p>
            <a:pPr lvl="0"/>
            <a:r>
              <a:rPr lang="en-US"/>
              <a:t>IndexError</a:t>
            </a:r>
          </a:p>
          <a:p>
            <a:pPr lvl="0"/>
            <a:r>
              <a:rPr lang="en-US"/>
              <a:t>KeyError</a:t>
            </a:r>
          </a:p>
          <a:p>
            <a:pPr lvl="0"/>
            <a:r>
              <a:rPr lang="en-US"/>
              <a:t>AttributeError</a:t>
            </a:r>
          </a:p>
          <a:p>
            <a:pPr lvl="0"/>
            <a:r>
              <a:rPr lang="en-US"/>
              <a:t>FileNotFoundError</a:t>
            </a:r>
          </a:p>
          <a:p>
            <a:pPr lvl="0"/>
            <a:r>
              <a:rPr lang="en-US"/>
              <a:t>ImportError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3" name="Google Shape;483;p57"/>
          <p:cNvGraphicFramePr/>
          <p:nvPr/>
        </p:nvGraphicFramePr>
        <p:xfrm>
          <a:off x="107150" y="712766"/>
          <a:ext cx="8991600" cy="3870630"/>
        </p:xfrm>
        <a:graphic>
          <a:graphicData uri="http://schemas.openxmlformats.org/drawingml/2006/table">
            <a:tbl>
              <a:tblPr>
                <a:noFill/>
                <a:tableStyleId>{5B9063A8-BC75-44AB-A561-BE0A82F3F6A3}</a:tableStyleId>
              </a:tblPr>
              <a:tblGrid>
                <a:gridCol w="255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When it Happens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Example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violates Python’s rules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colon :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IndentationError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has wrong indentation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Misaligned blocks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type used in operation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int to str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Right type, wrong value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int("abc")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ZeroDivisionError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Dividing by zero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/ 0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 out of range in a sequence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list[5] with 3 items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key in a dictionary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dict["missing"]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 doesn’t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int.append()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FileNotFoundError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 does not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Open missing file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Cannot import a module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module name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7E4AC0-01EA-B511-D859-5692044D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3114-E828-3C64-0B4A-5DA874EBE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ERROR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36906-DDF6-4444-8642-3AB19FD9C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9" name="Google Shape;489;p58"/>
          <p:cNvSpPr txBox="1"/>
          <p:nvPr/>
        </p:nvSpPr>
        <p:spPr>
          <a:xfrm>
            <a:off x="606210" y="157061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Handle Errors?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Prevent your program from crashing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Provide helpful messages to users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 your code recover from unexpected situations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</a:t>
            </a:r>
          </a:p>
        </p:txBody>
      </p:sp>
      <p:sp>
        <p:nvSpPr>
          <p:cNvPr id="495" name="Google Shape;495;p59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Tries a block a code and if an error is raised, can handle that error neatly</a:t>
            </a:r>
          </a:p>
          <a:p>
            <a:pPr lvl="0"/>
            <a:r>
              <a:rPr lang="en-US"/>
              <a:t>Example: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>
                <a:sym typeface="Consolas"/>
              </a:rPr>
              <a:t>try:</a:t>
            </a:r>
          </a:p>
          <a:p>
            <a:pPr lvl="0"/>
            <a:r>
              <a:rPr lang="en-US">
                <a:sym typeface="Consolas"/>
              </a:rPr>
              <a:t>     # code that might cause an error</a:t>
            </a:r>
          </a:p>
          <a:p>
            <a:pPr lvl="0"/>
            <a:r>
              <a:rPr lang="en-US">
                <a:sym typeface="Consolas"/>
              </a:rPr>
              <a:t>     number = int("abc")</a:t>
            </a:r>
            <a:endParaRPr lang="en-US"/>
          </a:p>
          <a:p>
            <a:pPr lvl="0"/>
            <a:r>
              <a:rPr lang="en-US">
                <a:sym typeface="Consolas"/>
              </a:rPr>
              <a:t> except ValueError:</a:t>
            </a:r>
          </a:p>
          <a:p>
            <a:pPr lvl="0"/>
            <a:r>
              <a:rPr lang="en-US">
                <a:sym typeface="Consolas"/>
              </a:rPr>
              <a:t>     print("Oops! That wasn't a number.")</a:t>
            </a:r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 CONTINUED</a:t>
            </a:r>
          </a:p>
        </p:txBody>
      </p:sp>
      <p:sp>
        <p:nvSpPr>
          <p:cNvPr id="501" name="Google Shape;501;p60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/>
            <a:r>
              <a:rPr lang="en-US"/>
              <a:t>Optional</a:t>
            </a:r>
          </a:p>
          <a:p>
            <a:pPr lvl="1"/>
            <a:r>
              <a:rPr lang="en-US">
                <a:sym typeface="Consolas"/>
              </a:rPr>
              <a:t>else</a:t>
            </a:r>
            <a:r>
              <a:rPr lang="en-US"/>
              <a:t>: Runs if no error occurs</a:t>
            </a:r>
          </a:p>
          <a:p>
            <a:pPr lvl="1"/>
            <a:r>
              <a:rPr lang="en-US">
                <a:sym typeface="Consolas"/>
              </a:rPr>
              <a:t>finally</a:t>
            </a:r>
            <a:r>
              <a:rPr lang="en-US"/>
              <a:t>: always runs</a:t>
            </a:r>
          </a:p>
          <a:p>
            <a:pPr lvl="1"/>
            <a:endParaRPr lang="en-US"/>
          </a:p>
          <a:p>
            <a:pPr lvl="0"/>
            <a:r>
              <a:rPr lang="en-US"/>
              <a:t>Example</a:t>
            </a:r>
          </a:p>
          <a:p>
            <a:pPr lvl="0"/>
            <a:r>
              <a:rPr lang="en-US">
                <a:sym typeface="Consolas"/>
              </a:rPr>
              <a:t>try:</a:t>
            </a:r>
          </a:p>
          <a:p>
            <a:pPr lvl="0"/>
            <a:r>
              <a:rPr lang="en-US">
                <a:sym typeface="Consolas"/>
              </a:rPr>
              <a:t>    result = 10 / 2</a:t>
            </a:r>
          </a:p>
          <a:p>
            <a:pPr lvl="0"/>
            <a:r>
              <a:rPr lang="en-US">
                <a:sym typeface="Consolas"/>
              </a:rPr>
              <a:t>except ZeroDivisionError:</a:t>
            </a:r>
          </a:p>
          <a:p>
            <a:pPr lvl="0"/>
            <a:r>
              <a:rPr lang="en-US">
                <a:sym typeface="Consolas"/>
              </a:rPr>
              <a:t>    print("Cannot divide by zero.")</a:t>
            </a:r>
          </a:p>
          <a:p>
            <a:pPr lvl="0"/>
            <a:r>
              <a:rPr lang="en-US">
                <a:sym typeface="Consolas"/>
              </a:rPr>
              <a:t>else:</a:t>
            </a:r>
          </a:p>
          <a:p>
            <a:pPr lvl="0"/>
            <a:r>
              <a:rPr lang="en-US">
                <a:sym typeface="Consolas"/>
              </a:rPr>
              <a:t>    print("Division successful.")</a:t>
            </a:r>
          </a:p>
          <a:p>
            <a:pPr lvl="0"/>
            <a:r>
              <a:rPr lang="en-US">
                <a:sym typeface="Consolas"/>
              </a:rPr>
              <a:t>finally:</a:t>
            </a:r>
          </a:p>
          <a:p>
            <a:pPr lvl="0"/>
            <a:r>
              <a:rPr lang="en-US">
                <a:sym typeface="Consolas"/>
              </a:rPr>
              <a:t>    print("Done.")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RAISE</a:t>
            </a:r>
          </a:p>
        </p:txBody>
      </p:sp>
      <p:sp>
        <p:nvSpPr>
          <p:cNvPr id="507" name="Google Shape;507;p6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/>
            <a:r>
              <a:rPr lang="en-US"/>
              <a:t>“raise” is used to intentionally trigger an error</a:t>
            </a:r>
          </a:p>
          <a:p>
            <a:pPr lvl="0"/>
            <a:r>
              <a:rPr lang="en-US"/>
              <a:t>Helps enforce rules and catch problems early</a:t>
            </a:r>
          </a:p>
          <a:p>
            <a:pPr lvl="0"/>
            <a:r>
              <a:rPr lang="en-US"/>
              <a:t>Make your code more predictable and safe</a:t>
            </a:r>
          </a:p>
          <a:p>
            <a:pPr lvl="0"/>
            <a:r>
              <a:rPr lang="en-US"/>
              <a:t>Useful for custom error messages or defining your own exceptions</a:t>
            </a:r>
          </a:p>
          <a:p>
            <a:pPr lvl="0"/>
            <a:endParaRPr lang="en-US"/>
          </a:p>
          <a:p>
            <a:pPr lvl="0"/>
            <a:r>
              <a:rPr lang="en-US"/>
              <a:t>Syntax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>
                <a:sym typeface="Consolas"/>
              </a:rPr>
              <a:t>if age &lt; 0:</a:t>
            </a:r>
          </a:p>
          <a:p>
            <a:pPr lvl="0"/>
            <a:r>
              <a:rPr lang="en-US">
                <a:sym typeface="Consolas"/>
              </a:rPr>
              <a:t>raise ValueError("Age cannot be negative.")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/>
              <a:t>Built-in Exceptions</a:t>
            </a:r>
          </a:p>
          <a:p>
            <a:pPr lvl="0"/>
            <a:r>
              <a:rPr lang="en-US">
                <a:sym typeface="Consolas"/>
              </a:rPr>
              <a:t>raise TypeError("This function only accepts strings.")</a:t>
            </a:r>
          </a:p>
          <a:p>
            <a:pPr lvl="0"/>
            <a:r>
              <a:rPr lang="en-US">
                <a:sym typeface="Consolas"/>
              </a:rPr>
              <a:t>raise ZeroDivisionError("Cannot divide by zero.")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/>
          </a:p>
          <a:p>
            <a:pPr lvl="0"/>
            <a:r>
              <a:rPr lang="en-US"/>
              <a:t>Raised errors can be caught and handled with try / except</a:t>
            </a:r>
          </a:p>
          <a:p>
            <a:pPr lvl="0"/>
            <a:r>
              <a:rPr lang="en-US"/>
              <a:t>If not caught, they will be passed to the output and stop the program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FINAL CODING EXERCISE</a:t>
            </a:r>
          </a:p>
        </p:txBody>
      </p:sp>
      <p:sp>
        <p:nvSpPr>
          <p:cNvPr id="513" name="Google Shape;513;p6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/>
            <a:r>
              <a:rPr lang="en-US"/>
              <a:t>20 min </a:t>
            </a:r>
          </a:p>
          <a:p>
            <a:pPr lvl="0"/>
            <a:endParaRPr lang="en-US"/>
          </a:p>
          <a:p>
            <a:pPr lvl="0"/>
            <a:r>
              <a:rPr lang="en-US"/>
              <a:t>Write a block of code that takes in user input until they guess the random number</a:t>
            </a:r>
          </a:p>
          <a:p>
            <a:pPr lvl="0"/>
            <a:r>
              <a:rPr lang="en-US"/>
              <a:t>Prompt the user to help them with their guess</a:t>
            </a:r>
          </a:p>
          <a:p>
            <a:pPr lvl="0"/>
            <a:r>
              <a:rPr lang="en-US"/>
              <a:t>Handle the following situations</a:t>
            </a:r>
          </a:p>
          <a:p>
            <a:pPr lvl="0"/>
            <a:r>
              <a:rPr lang="en-US"/>
              <a:t>User does not input the right python data type</a:t>
            </a:r>
          </a:p>
          <a:p>
            <a:pPr lvl="0"/>
            <a:r>
              <a:rPr lang="en-US"/>
              <a:t>User inputs a negative number</a:t>
            </a:r>
          </a:p>
          <a:p>
            <a:pPr lvl="0"/>
            <a:r>
              <a:rPr lang="en-US"/>
              <a:t>User inputs a number outside the guess range</a:t>
            </a:r>
          </a:p>
          <a:p>
            <a:pPr lvl="0"/>
            <a:r>
              <a:rPr lang="en-US"/>
              <a:t>Hint: use random.randomint() to generate a random number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FINAL CODING EXERCISE</a:t>
            </a:r>
          </a:p>
        </p:txBody>
      </p:sp>
      <p:sp>
        <p:nvSpPr>
          <p:cNvPr id="519" name="Google Shape;519;p6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20 min </a:t>
            </a:r>
          </a:p>
          <a:p>
            <a:pPr lvl="0"/>
            <a:r>
              <a:rPr lang="en-US"/>
              <a:t>Given a list of numbers, write a program that:</a:t>
            </a:r>
          </a:p>
          <a:p>
            <a:pPr lvl="0"/>
            <a:r>
              <a:rPr lang="en-US"/>
              <a:t>Loops through the list</a:t>
            </a:r>
          </a:p>
          <a:p>
            <a:pPr lvl="0"/>
            <a:r>
              <a:rPr lang="en-US"/>
              <a:t>Skips any None values or non-integer types with an error message using try/except</a:t>
            </a:r>
          </a:p>
          <a:p>
            <a:pPr lvl="0"/>
            <a:r>
              <a:rPr lang="en-US"/>
              <a:t>Raises a ValueError if it finds a negative number (stops the program)</a:t>
            </a:r>
          </a:p>
          <a:p>
            <a:pPr lvl="0"/>
            <a:r>
              <a:rPr lang="en-US"/>
              <a:t>Collects all valid positive integers into a new list</a:t>
            </a:r>
          </a:p>
          <a:p>
            <a:pPr lvl="0"/>
            <a:r>
              <a:rPr lang="en-US"/>
              <a:t>Prints the new list and the sum of its numbers</a:t>
            </a:r>
          </a:p>
          <a:p>
            <a:pPr lvl="0"/>
            <a:r>
              <a:rPr lang="en-US"/>
              <a:t>List: </a:t>
            </a:r>
            <a:r>
              <a:rPr lang="en-US">
                <a:sym typeface="Consolas"/>
              </a:rPr>
              <a:t>[10, -5, 20, ‘hello’, 5.2, 15, None, 30]</a:t>
            </a:r>
          </a:p>
          <a:p>
            <a:pPr lvl="0"/>
            <a:r>
              <a:rPr lang="en-US"/>
              <a:t>Once you have a solution, remove -5 from the list and run it again.</a:t>
            </a:r>
          </a:p>
          <a:p>
            <a:pPr lvl="0"/>
            <a:r>
              <a:rPr lang="en-US"/>
              <a:t>Hints:  </a:t>
            </a:r>
          </a:p>
          <a:p>
            <a:pPr lvl="0"/>
            <a:r>
              <a:rPr lang="en-US"/>
              <a:t>Use </a:t>
            </a:r>
            <a:r>
              <a:rPr lang="en-US">
                <a:sym typeface="Consolas"/>
              </a:rPr>
              <a:t>isinstance(item, int) </a:t>
            </a:r>
            <a:r>
              <a:rPr lang="en-US"/>
              <a:t>to check types</a:t>
            </a:r>
          </a:p>
          <a:p>
            <a:pPr lvl="0"/>
            <a:r>
              <a:rPr lang="en-US"/>
              <a:t>Build the valid list as you go</a:t>
            </a:r>
            <a:endParaRPr lang="en-US"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1656</Words>
  <Application>Microsoft Office PowerPoint</Application>
  <PresentationFormat>On-screen Show (16:9)</PresentationFormat>
  <Paragraphs>294</Paragraphs>
  <Slides>29</Slides>
  <Notes>22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Courier New</vt:lpstr>
      <vt:lpstr>Arial</vt:lpstr>
      <vt:lpstr>Consolas</vt:lpstr>
      <vt:lpstr>Roboto</vt:lpstr>
      <vt:lpstr>US Army 2023 AFC DEVCOM Logo</vt:lpstr>
      <vt:lpstr>CONDITIONAL STATEMENTS AND LOOPS</vt:lpstr>
      <vt:lpstr>Review:  What is a Boolean?</vt:lpstr>
      <vt:lpstr>Workflow Diagrams</vt:lpstr>
      <vt:lpstr>CONDITIONAL STATEMENTS</vt:lpstr>
      <vt:lpstr>THE "IF" STATEMENT</vt:lpstr>
      <vt:lpstr>THE “ELSE” STATEMENT</vt:lpstr>
      <vt:lpstr>THE “ELIF” STATEMENT</vt:lpstr>
      <vt:lpstr>NESTED CONDITIONAL STATEMENTS </vt:lpstr>
      <vt:lpstr>EXERCISE - CONDITIONAL STATEMENTS</vt:lpstr>
      <vt:lpstr>Loops!</vt:lpstr>
      <vt:lpstr>But first, a new datatype!</vt:lpstr>
      <vt:lpstr>LOOPS</vt:lpstr>
      <vt:lpstr>RANGE() FUNCTION </vt:lpstr>
      <vt:lpstr>“FOR” LOOP</vt:lpstr>
      <vt:lpstr>“WHILE” LOOP</vt:lpstr>
      <vt:lpstr>Hands-On #1</vt:lpstr>
      <vt:lpstr>More Loops</vt:lpstr>
      <vt:lpstr>LOOP CONTROL STATEMENTS</vt:lpstr>
      <vt:lpstr>NESTED LOOPS</vt:lpstr>
      <vt:lpstr>Hands-On #2</vt:lpstr>
      <vt:lpstr>PYTHON ERRORS</vt:lpstr>
      <vt:lpstr>EXERCISE - PYTHON ERRORS</vt:lpstr>
      <vt:lpstr>PowerPoint Presentation</vt:lpstr>
      <vt:lpstr>ERROR HANDLING</vt:lpstr>
      <vt:lpstr>TRY - EXCEPT</vt:lpstr>
      <vt:lpstr>TRY - EXCEPT CONTINUED</vt:lpstr>
      <vt:lpstr>RAISE</vt:lpstr>
      <vt:lpstr>FINAL CODING EXERCISE</vt:lpstr>
      <vt:lpstr>FINAL CODING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25</cp:revision>
  <dcterms:modified xsi:type="dcterms:W3CDTF">2026-05-05T21:03:22Z</dcterms:modified>
</cp:coreProperties>
</file>